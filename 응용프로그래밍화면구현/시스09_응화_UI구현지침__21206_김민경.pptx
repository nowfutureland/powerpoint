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etendard SemiBold"/>
      <p:bold r:id="rId14"/>
    </p:embeddedFont>
    <p:embeddedFont>
      <p:font typeface="Pretendard Bold"/>
      <p:bold r:id="rId15"/>
    </p:embeddedFont>
    <p:embeddedFont>
      <p:font typeface="Pretendard Regular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4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2" Target="../media/image4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33.png" Type="http://schemas.openxmlformats.org/officeDocument/2006/relationships/image"/><Relationship Id="rId12" Target="../media/image42.png" Type="http://schemas.openxmlformats.org/officeDocument/2006/relationships/image"/><Relationship Id="rId2" Target="../media/image4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2.png" Type="http://schemas.openxmlformats.org/officeDocument/2006/relationships/image"/><Relationship Id="rId2" Target="../media/image4.png" Type="http://schemas.openxmlformats.org/officeDocument/2006/relationships/image"/><Relationship Id="rId3" Target="../media/image34.png" Type="http://schemas.openxmlformats.org/officeDocument/2006/relationships/image"/><Relationship Id="rId4" Target="../media/image38.png" Type="http://schemas.openxmlformats.org/officeDocument/2006/relationships/image"/><Relationship Id="rId5" Target="../media/image41.png" Type="http://schemas.openxmlformats.org/officeDocument/2006/relationships/image"/><Relationship Id="rId6" Target="../media/image33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A5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927100"/>
            <a:ext cx="17145000" cy="6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9334500"/>
            <a:ext cx="17145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60400" y="9321800"/>
            <a:ext cx="35687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SemiBold"/>
              </a:rPr>
              <a:t>Seongil Information High School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71500" y="8089900"/>
            <a:ext cx="4699000" cy="927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9300" y="8216900"/>
            <a:ext cx="40259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700" b="false" i="false" u="none" strike="noStrike">
                <a:solidFill>
                  <a:srgbClr val="A8A59B"/>
                </a:solidFill>
                <a:latin typeface="Pretendard SemiBold"/>
              </a:rPr>
              <a:t>21206 </a:t>
            </a:r>
            <a:r>
              <a:rPr lang="ko-KR" sz="3700" b="false" i="false" u="none" strike="noStrike">
                <a:solidFill>
                  <a:srgbClr val="A8A59B"/>
                </a:solidFill>
                <a:ea typeface="Pretendard SemiBold"/>
              </a:rPr>
              <a:t>김민경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5000" y="1917700"/>
            <a:ext cx="17919700" cy="3276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10300" b="false" i="false" u="none" strike="noStrike" spc="100">
                <a:solidFill>
                  <a:srgbClr val="FFFFFF"/>
                </a:solidFill>
                <a:ea typeface="Pretendard Bold"/>
              </a:rPr>
              <a:t>응용프로그래밍화면구현</a:t>
            </a:r>
          </a:p>
          <a:p>
            <a:pPr algn="l" lvl="0">
              <a:lnSpc>
                <a:spcPct val="91300"/>
              </a:lnSpc>
            </a:pPr>
            <a:r>
              <a:rPr lang="en-US" sz="10300" b="false" i="false" u="none" strike="noStrike" spc="100">
                <a:solidFill>
                  <a:srgbClr val="FFFFFF"/>
                </a:solidFill>
                <a:latin typeface="Pretendard Bold"/>
              </a:rPr>
              <a:t>(UI</a:t>
            </a:r>
            <a:r>
              <a:rPr lang="ko-KR" sz="10300" b="false" i="false" u="none" strike="noStrike" spc="100">
                <a:solidFill>
                  <a:srgbClr val="FFFFFF"/>
                </a:solidFill>
                <a:ea typeface="Pretendard Bold"/>
              </a:rPr>
              <a:t>구현지침</a:t>
            </a:r>
            <a:r>
              <a:rPr lang="en-US" sz="10300" b="false" i="false" u="none" strike="noStrike" spc="100">
                <a:solidFill>
                  <a:srgbClr val="FFFFFF"/>
                </a:solidFill>
                <a:latin typeface="Pretendard Bold"/>
              </a:rPr>
              <a:t>)</a:t>
            </a:r>
            <a:r>
              <a:rPr lang="en-US" sz="10300" b="false" i="false" u="none" strike="noStrike" spc="100">
                <a:solidFill>
                  <a:srgbClr val="FFFFFF"/>
                </a:solidFill>
                <a:latin typeface="Pretendard Bold"/>
              </a:rPr>
              <a:t> </a:t>
            </a:r>
            <a:r>
              <a:rPr lang="ko-KR" sz="10300" b="false" i="false" u="none" strike="noStrike" spc="100">
                <a:solidFill>
                  <a:srgbClr val="FFFFFF"/>
                </a:solidFill>
                <a:ea typeface="Pretendard Bold"/>
              </a:rPr>
              <a:t>내용</a:t>
            </a:r>
            <a:r>
              <a:rPr lang="en-US" sz="10300" b="false" i="false" u="none" strike="noStrike" spc="100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10300" b="false" i="false" u="none" strike="noStrike" spc="100">
                <a:solidFill>
                  <a:srgbClr val="FFFFFF"/>
                </a:solidFill>
                <a:ea typeface="Pretendard Bold"/>
              </a:rPr>
              <a:t>정리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882900"/>
            <a:ext cx="16433800" cy="74041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4" id="4"/>
          <p:cNvSpPr txBox="true"/>
          <p:nvPr/>
        </p:nvSpPr>
        <p:spPr>
          <a:xfrm rot="0">
            <a:off x="2971800" y="4470400"/>
            <a:ext cx="30861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517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웹의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 3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요소</a:t>
            </a:r>
          </a:p>
        </p:txBody>
      </p:sp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" y="4356100"/>
            <a:ext cx="673100" cy="673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222500" y="4495800"/>
            <a:ext cx="393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83838"/>
                </a:solidFill>
                <a:latin typeface="Pretendard Semi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1800" y="4965700"/>
            <a:ext cx="3619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표준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(Web Standards)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(Web Accessibility)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호환성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(Cross Browsing)</a:t>
            </a:r>
          </a:p>
        </p:txBody>
      </p:sp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10" id="10"/>
          <p:cNvSpPr txBox="true"/>
          <p:nvPr/>
        </p:nvSpPr>
        <p:spPr>
          <a:xfrm rot="0">
            <a:off x="11671300" y="4457700"/>
            <a:ext cx="26289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5170"/>
              </a:lnSpc>
            </a:pP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UI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설계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단계</a:t>
            </a:r>
          </a:p>
        </p:txBody>
      </p: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82300" y="4330700"/>
            <a:ext cx="673100" cy="660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0922000" y="4483100"/>
            <a:ext cx="393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83838"/>
                </a:solidFill>
                <a:latin typeface="Pretendard Semi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71300" y="5168900"/>
            <a:ext cx="36195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세부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구현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지침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확인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통일성</a:t>
            </a:r>
          </a:p>
        </p:txBody>
      </p: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16" id="16"/>
          <p:cNvSpPr txBox="true"/>
          <p:nvPr/>
        </p:nvSpPr>
        <p:spPr>
          <a:xfrm rot="0">
            <a:off x="11671300" y="7302500"/>
            <a:ext cx="30353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517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사용성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확보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고려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사항</a:t>
            </a:r>
          </a:p>
        </p:txBody>
      </p:sp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82300" y="7188200"/>
            <a:ext cx="673100" cy="673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0922000" y="7327900"/>
            <a:ext cx="393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83838"/>
                </a:solidFill>
                <a:latin typeface="Pretendard SemiBo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71300" y="7797800"/>
            <a:ext cx="3619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텍스트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명료성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키보드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등</a:t>
            </a:r>
          </a:p>
        </p:txBody>
      </p:sp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2" id="22"/>
          <p:cNvSpPr txBox="true"/>
          <p:nvPr/>
        </p:nvSpPr>
        <p:spPr>
          <a:xfrm rot="0">
            <a:off x="2971800" y="7302500"/>
            <a:ext cx="30480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5170"/>
              </a:lnSpc>
            </a:pP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UI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표준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Bold"/>
              </a:rPr>
              <a:t>,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Bold"/>
              </a:rPr>
              <a:t>지침</a:t>
            </a:r>
          </a:p>
        </p:txBody>
      </p: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82800" y="7188200"/>
            <a:ext cx="673100" cy="6731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222500" y="7327900"/>
            <a:ext cx="393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383838"/>
                </a:solidFill>
                <a:latin typeface="Pretendard Semi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71800" y="7797800"/>
            <a:ext cx="36195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중립성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(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기술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)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보편적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표현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보장성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(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)</a:t>
            </a:r>
          </a:p>
          <a:p>
            <a:pPr algn="l" lvl="0">
              <a:lnSpc>
                <a:spcPct val="149400"/>
              </a:lnSpc>
            </a:pP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-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기능의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호환성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(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호환성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5400" y="1397000"/>
            <a:ext cx="90043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882900"/>
            <a:ext cx="16433800" cy="740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302000" y="4699000"/>
            <a:ext cx="1993900" cy="635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40700" y="4699000"/>
            <a:ext cx="19939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992100" y="4699000"/>
            <a:ext cx="1993900" cy="635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3911600" y="5689600"/>
            <a:ext cx="762000" cy="76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8763000" y="5689600"/>
            <a:ext cx="762000" cy="76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0">
            <a:off x="13614400" y="5689600"/>
            <a:ext cx="762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692900" y="4127500"/>
            <a:ext cx="4889500" cy="2286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327400" y="4775200"/>
            <a:ext cx="19558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표준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44300" y="6261100"/>
            <a:ext cx="4889500" cy="228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41500" y="6337300"/>
            <a:ext cx="4889500" cy="228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8166100" y="4775200"/>
            <a:ext cx="19558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접근성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17500" y="4775200"/>
            <a:ext cx="19558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호환성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5500" y="6654800"/>
            <a:ext cx="4445000" cy="1130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웹에서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사용되는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기술이나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규칙을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의미하며</a:t>
            </a:r>
          </a:p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사이트를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작성할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때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이용하는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HTML, CSS, JavaScript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등에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대한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규정과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다른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기종이나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다른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플랫폼에서도</a:t>
            </a:r>
          </a:p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웹페이지가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구현되도록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제작하는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기법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등을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포함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32600" y="6616700"/>
            <a:ext cx="4559300" cy="1130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사용자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접근성이란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 </a:t>
            </a:r>
          </a:p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모든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사용자가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콘텐츠에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보다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손쉽게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접근할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있도록</a:t>
            </a:r>
          </a:p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접근성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지침을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준수하여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설계하고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실사용성을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고려하여</a:t>
            </a:r>
          </a:p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사이트를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구현하였는지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여부의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수준을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의미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63400" y="6908800"/>
            <a:ext cx="4140200" cy="558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서비스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이용자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단말기의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하드웨어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및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소프트웨어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환경이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다른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경우에도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동등한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서비스를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제공하는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것을</a:t>
            </a:r>
            <a:r>
              <a:rPr lang="en-US" sz="15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5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의미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5400" y="1524000"/>
            <a:ext cx="112141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1.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웹의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3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요소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882900"/>
            <a:ext cx="16433800" cy="7404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283200" y="3276600"/>
            <a:ext cx="7734300" cy="1460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각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페이지와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포함된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요소들에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대한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해석은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통일성이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4400" b="false" i="false" u="none" strike="noStrike">
                <a:solidFill>
                  <a:srgbClr val="383838"/>
                </a:solidFill>
                <a:ea typeface="Pretendard Bold"/>
              </a:rPr>
              <a:t>유지되도록</a:t>
            </a:r>
            <a:r>
              <a:rPr lang="en-US" sz="4400" b="false" i="false" u="none" strike="noStrike">
                <a:solidFill>
                  <a:srgbClr val="383838"/>
                </a:solidFill>
                <a:latin typeface="Pretendard Bold"/>
              </a:rPr>
              <a:t> 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21300" y="5041900"/>
            <a:ext cx="76454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9400"/>
              </a:lnSpc>
            </a:pPr>
            <a:r>
              <a:rPr lang="ko-KR" sz="21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수행</a:t>
            </a:r>
            <a:r>
              <a:rPr lang="en-US" sz="21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21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순서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51200" y="6032500"/>
            <a:ext cx="3670300" cy="312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02500" y="6032500"/>
            <a:ext cx="3670300" cy="312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79200" y="6032500"/>
            <a:ext cx="3670300" cy="312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0">
            <a:off x="4648200" y="6578600"/>
            <a:ext cx="863600" cy="86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0">
            <a:off x="8712200" y="6578600"/>
            <a:ext cx="863600" cy="86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 rot="0">
            <a:off x="12788900" y="6578600"/>
            <a:ext cx="850900" cy="863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416300" y="7581900"/>
            <a:ext cx="32893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각종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로고나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디자인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형식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등이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요구사항에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맞추어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설계되었는지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99400" y="7581900"/>
            <a:ext cx="24892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페이지마다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반드시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삽입되어야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하는</a:t>
            </a:r>
          </a:p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기능들을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95100" y="7581900"/>
            <a:ext cx="33020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메뉴들의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위치와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접근성이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사용자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측면에서</a:t>
            </a:r>
          </a:p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설계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되었는지</a:t>
            </a:r>
            <a:r>
              <a:rPr lang="en-US" sz="25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5400" y="1447800"/>
            <a:ext cx="81153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2. UI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설계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단계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882900"/>
            <a:ext cx="16433800" cy="7404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38500" y="5397500"/>
            <a:ext cx="2387600" cy="294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337300" y="5397500"/>
            <a:ext cx="2387600" cy="294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423400" y="5397500"/>
            <a:ext cx="2374900" cy="294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484100" y="5397500"/>
            <a:ext cx="2387600" cy="294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5778500" y="6489700"/>
            <a:ext cx="342900" cy="19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8864600" y="6489700"/>
            <a:ext cx="342900" cy="190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1963400" y="6489700"/>
            <a:ext cx="342900" cy="190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200400" y="6858000"/>
            <a:ext cx="2463800" cy="1143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사용자가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효율적으로</a:t>
            </a:r>
          </a:p>
          <a:p>
            <a:pPr algn="ctr" lvl="0">
              <a:lnSpc>
                <a:spcPct val="99600"/>
              </a:lnSpc>
            </a:pP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페이지를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사용할</a:t>
            </a:r>
          </a:p>
          <a:p>
            <a:pPr algn="ctr" lvl="0">
              <a:lnSpc>
                <a:spcPct val="99600"/>
              </a:lnSpc>
            </a:pP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수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있도록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구성되었는지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92900" y="6858000"/>
            <a:ext cx="1651000" cy="86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화면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구성이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 </a:t>
            </a:r>
          </a:p>
          <a:p>
            <a:pPr algn="ctr" lvl="0">
              <a:lnSpc>
                <a:spcPct val="99600"/>
              </a:lnSpc>
            </a:pP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일관성있게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구성되었는지</a:t>
            </a:r>
            <a:r>
              <a:rPr lang="en-US" sz="18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18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64700" y="6858000"/>
            <a:ext cx="19050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표준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문법이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준수되었는지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38100" y="6858000"/>
            <a:ext cx="1854200" cy="101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최신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표준</a:t>
            </a:r>
          </a:p>
          <a:p>
            <a:pPr algn="ctr" lvl="0">
              <a:lnSpc>
                <a:spcPct val="99600"/>
              </a:lnSpc>
            </a:pP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기술을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사용하고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있는지</a:t>
            </a:r>
            <a:r>
              <a:rPr lang="en-US" sz="21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1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7099300" y="5829300"/>
            <a:ext cx="838200" cy="838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 rot="0">
            <a:off x="4013200" y="5829300"/>
            <a:ext cx="838200" cy="838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0">
            <a:off x="10172700" y="5842000"/>
            <a:ext cx="838200" cy="838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 rot="0">
            <a:off x="13373100" y="5880100"/>
            <a:ext cx="749300" cy="749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47800" y="3098800"/>
            <a:ext cx="11353800" cy="1130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374900" y="3327400"/>
            <a:ext cx="105791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UI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표준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지침과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접근성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지침서를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토대로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기술의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중립성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(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기술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),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보편적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표현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보장성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(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접근성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),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기능의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호환성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(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웹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호환성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)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이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고려되었는지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확인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27200" y="3352800"/>
            <a:ext cx="431800" cy="431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295400" y="1524000"/>
            <a:ext cx="90043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3. UI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표준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,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지침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882900"/>
            <a:ext cx="16433800" cy="7404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95400" y="1447800"/>
            <a:ext cx="101473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4.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사용성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확보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고려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사항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34500" y="4648200"/>
            <a:ext cx="7772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34500" y="6007100"/>
            <a:ext cx="7772400" cy="1054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34500" y="7378700"/>
            <a:ext cx="77724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6197600"/>
            <a:ext cx="6731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740900" y="4838700"/>
            <a:ext cx="6731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40900" y="7569200"/>
            <a:ext cx="673100" cy="673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0566400" y="4940300"/>
            <a:ext cx="2133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쉬운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내비게이션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6400" y="6337300"/>
            <a:ext cx="2133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가독성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66400" y="7696200"/>
            <a:ext cx="2057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예측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가능성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03200" y="4991100"/>
            <a:ext cx="44323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쉽게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내비게이션할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03200" y="6362700"/>
            <a:ext cx="44323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읽고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이해햐기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쉬워야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핟다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03200" y="7543800"/>
            <a:ext cx="44323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기능과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실행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결과는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예측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가능해야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34500" y="8712200"/>
            <a:ext cx="7772400" cy="1054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566400" y="9029700"/>
            <a:ext cx="2057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콘텐츠의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논리성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3200" y="9055100"/>
            <a:ext cx="44323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논리적으로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구성해야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47800" y="3098800"/>
            <a:ext cx="6819900" cy="11303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374900" y="3390900"/>
            <a:ext cx="5943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사용성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확보를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위해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고려해야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할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세부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사항을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작성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1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27200" y="3352800"/>
            <a:ext cx="431800" cy="431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677400" y="8940800"/>
            <a:ext cx="736600" cy="711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81100" y="4648200"/>
            <a:ext cx="7772400" cy="1054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81100" y="6007100"/>
            <a:ext cx="7772400" cy="1054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1100" y="7378700"/>
            <a:ext cx="7772400" cy="1054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7500" y="6197600"/>
            <a:ext cx="673100" cy="673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4838700"/>
            <a:ext cx="673100" cy="673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87500" y="7569200"/>
            <a:ext cx="673100" cy="673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2413000" y="4953000"/>
            <a:ext cx="2387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383838"/>
                </a:solidFill>
                <a:ea typeface="Pretendard SemiBold"/>
              </a:rPr>
              <a:t>대체</a:t>
            </a:r>
            <a:r>
              <a:rPr lang="en-US" sz="23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300" b="false" i="false" u="none" strike="noStrike">
                <a:solidFill>
                  <a:srgbClr val="383838"/>
                </a:solidFill>
                <a:ea typeface="Pretendard SemiBold"/>
              </a:rPr>
              <a:t>텍스트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13000" y="6337300"/>
            <a:ext cx="2133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명료성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13000" y="7696200"/>
            <a:ext cx="2057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키보드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접근성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37100" y="4813300"/>
            <a:ext cx="44323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텍스트가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아닌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이미지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등의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콘텐즈에는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대체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텍스트를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제공해야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37100" y="6362700"/>
            <a:ext cx="44323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명확하게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전달되어야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37100" y="7721600"/>
            <a:ext cx="44323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키보드로도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접근할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81100" y="8712200"/>
            <a:ext cx="7772400" cy="10414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2413000" y="9029700"/>
            <a:ext cx="2057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광과민성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발작예방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37100" y="8877300"/>
            <a:ext cx="44323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광과민성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발작을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일으킬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제공하지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않아야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24000" y="8940800"/>
            <a:ext cx="7366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27100" y="2882900"/>
            <a:ext cx="16433800" cy="7404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95400" y="1447800"/>
            <a:ext cx="10147300" cy="95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4.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사용성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확보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고려</a:t>
            </a:r>
            <a:r>
              <a:rPr lang="en-US" sz="5400" b="false" i="false" u="none" strike="noStrike">
                <a:solidFill>
                  <a:srgbClr val="383838"/>
                </a:solidFill>
                <a:latin typeface="Pretendard Bold"/>
              </a:rPr>
              <a:t> </a:t>
            </a:r>
            <a:r>
              <a:rPr lang="ko-KR" sz="5400" b="false" i="false" u="none" strike="noStrike">
                <a:solidFill>
                  <a:srgbClr val="383838"/>
                </a:solidFill>
                <a:ea typeface="Pretendard Bold"/>
              </a:rPr>
              <a:t>사항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34500" y="5816600"/>
            <a:ext cx="7772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40900" y="6007100"/>
            <a:ext cx="673100" cy="673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566400" y="6134100"/>
            <a:ext cx="23749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충분한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시간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제공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03200" y="5981700"/>
            <a:ext cx="44323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읽고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사용하는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데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충분한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시간을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제공해야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47800" y="3098800"/>
            <a:ext cx="6819900" cy="1130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374900" y="3365500"/>
            <a:ext cx="5943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사용성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확보를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위해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고려해야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할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세부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사항을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작성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2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7200" y="3352800"/>
            <a:ext cx="431800" cy="43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81100" y="5156200"/>
            <a:ext cx="7772400" cy="1054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6527800"/>
            <a:ext cx="7772400" cy="1054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1100" y="7899400"/>
            <a:ext cx="7772400" cy="1054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6718300"/>
            <a:ext cx="673100" cy="67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87500" y="5346700"/>
            <a:ext cx="673100" cy="673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87500" y="8089900"/>
            <a:ext cx="673100" cy="673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413000" y="5486400"/>
            <a:ext cx="23749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입력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도움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13000" y="6845300"/>
            <a:ext cx="21336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문법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준수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13000" y="8216900"/>
            <a:ext cx="2057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접근성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37100" y="5321300"/>
            <a:ext cx="44323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입력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오류를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방지하거나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정정할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37100" y="6692900"/>
            <a:ext cx="44323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콘텐츠는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마크업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언어의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문법을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준수해야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37100" y="8242300"/>
            <a:ext cx="4432300" cy="342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웹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애플리케이션을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접근성이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85300" y="7366000"/>
            <a:ext cx="7772400" cy="10414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0617200" y="7518400"/>
            <a:ext cx="2057400" cy="723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멀티미디어</a:t>
            </a:r>
          </a:p>
          <a:p>
            <a:pPr algn="l" lvl="0">
              <a:lnSpc>
                <a:spcPct val="99600"/>
              </a:lnSpc>
            </a:pP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대체</a:t>
            </a:r>
            <a:r>
              <a:rPr lang="en-US" sz="2200" b="false" i="false" u="none" strike="noStrike">
                <a:solidFill>
                  <a:srgbClr val="383838"/>
                </a:solidFill>
                <a:latin typeface="Pretendard SemiBold"/>
              </a:rPr>
              <a:t> </a:t>
            </a:r>
            <a:r>
              <a:rPr lang="ko-KR" sz="2200" b="false" i="false" u="none" strike="noStrike">
                <a:solidFill>
                  <a:srgbClr val="383838"/>
                </a:solidFill>
                <a:ea typeface="Pretendard SemiBold"/>
              </a:rPr>
              <a:t>수단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54000" y="7340600"/>
            <a:ext cx="44323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동영상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,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음성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등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멀티미디어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콘텐츠에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대한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이해도를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높일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있도록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대체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수단을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 </a:t>
            </a:r>
          </a:p>
          <a:p>
            <a:pPr algn="l" lvl="0">
              <a:lnSpc>
                <a:spcPct val="124499"/>
              </a:lnSpc>
            </a:pP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제공해야</a:t>
            </a:r>
            <a:r>
              <a:rPr lang="en-US" sz="1900" b="false" i="false" u="none" strike="noStrike">
                <a:solidFill>
                  <a:srgbClr val="383838">
                    <a:alpha val="80000"/>
                  </a:srgbClr>
                </a:solidFill>
                <a:latin typeface="Pretendard Regular"/>
              </a:rPr>
              <a:t> </a:t>
            </a:r>
            <a:r>
              <a:rPr lang="ko-KR" sz="1900" b="false" i="false" u="none" strike="noStrike">
                <a:solidFill>
                  <a:srgbClr val="383838">
                    <a:alpha val="80000"/>
                  </a:srgbClr>
                </a:solidFill>
                <a:ea typeface="Pretendard Regular"/>
              </a:rPr>
              <a:t>한다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728200" y="7594600"/>
            <a:ext cx="7366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8A5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1500" y="927100"/>
            <a:ext cx="17145000" cy="635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71500" y="9334500"/>
            <a:ext cx="17145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971800" y="3886200"/>
            <a:ext cx="12001500" cy="251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1300"/>
              </a:lnSpc>
            </a:pPr>
            <a:r>
              <a:rPr lang="en-US" sz="14100" b="false" i="false" u="none" strike="noStrike" spc="200">
                <a:solidFill>
                  <a:srgbClr val="FFFFFF"/>
                </a:solidFill>
                <a:latin typeface="Pretendard Bold"/>
              </a:rPr>
              <a:t>THANK YOU!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400" y="9321800"/>
            <a:ext cx="35687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FFFFFF"/>
                </a:solidFill>
                <a:latin typeface="Pretendard SemiBold"/>
              </a:rPr>
              <a:t>Seongil Information High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